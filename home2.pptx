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 snapToObjects="1">
      <p:cViewPr varScale="1">
        <p:scale>
          <a:sx d="100" n="124"/>
          <a:sy d="100" n="124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1" Type="http://schemas.openxmlformats.org/officeDocument/2006/relationships/slideMaster" Target="slideMasters/slideMaster1.xml" /><Relationship Id="rId62" Type="http://schemas.openxmlformats.org/officeDocument/2006/relationships/printerSettings" Target="printerSettings/printerSettings1.bin" /><Relationship Id="rId63" Type="http://schemas.openxmlformats.org/officeDocument/2006/relationships/presProps" Target="presProps.xml" /><Relationship Id="rId64" Type="http://schemas.openxmlformats.org/officeDocument/2006/relationships/viewProps" Target="viewProps.xml" /><Relationship Id="rId65" Type="http://schemas.openxmlformats.org/officeDocument/2006/relationships/theme" Target="theme/theme1.xml" /><Relationship Id="rId66" Type="http://schemas.openxmlformats.org/officeDocument/2006/relationships/tableStyles" Target="tableStyles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arget="../slideLayouts/slideLayout1.xml" Type="http://schemas.openxmlformats.org/officeDocument/2006/relationships/slideLayout" /><Relationship Id="rId2" Target="../slideLayouts/slideLayout2.xml" Type="http://schemas.openxmlformats.org/officeDocument/2006/relationships/slideLayout" /><Relationship Id="rId3" Target="../slideLayouts/slideLayout3.xml" Type="http://schemas.openxmlformats.org/officeDocument/2006/relationships/slideLayout" /><Relationship Id="rId4" Target="../slideLayouts/slideLayout4.xml" Type="http://schemas.openxmlformats.org/officeDocument/2006/relationships/slideLayout" /><Relationship Id="rId5" Target="../slideLayouts/slideLayout5.xml" Type="http://schemas.openxmlformats.org/officeDocument/2006/relationships/slideLayout" /><Relationship Id="rId6" Target="../slideLayouts/slideLayout6.xml" Type="http://schemas.openxmlformats.org/officeDocument/2006/relationships/slideLayout" /><Relationship Id="rId7" Target="../slideLayouts/slideLayout7.xml" Type="http://schemas.openxmlformats.org/officeDocument/2006/relationships/slideLayout" /><Relationship Id="rId8" Target="../slideLayouts/slideLayout8.xml" Type="http://schemas.openxmlformats.org/officeDocument/2006/relationships/slideLayout" /><Relationship Id="rId9" Target="../slideLayouts/slideLayout9.xml" Type="http://schemas.openxmlformats.org/officeDocument/2006/relationships/slideLayout" /><Relationship Id="rId10" Target="../slideLayouts/slideLayout10.xml" Type="http://schemas.openxmlformats.org/officeDocument/2006/relationships/slideLayout" /><Relationship Id="rId11" Target="../slideLayouts/slideLayout11.xml" Type="http://schemas.openxmlformats.org/officeDocument/2006/relationships/slideLayout" /><Relationship Id="rId12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2025 홈파티 트렌드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가성비 럭셔리와 홈코노미의 확산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고물가 기조에 따른 외식 부담 증가로 인해 집을 파티 장소로 선택하는 실속형 소비 문화의 정착</a:t>
            </a:r>
          </a:p>
          <a:p>
            <a:pPr lvl="0"/>
            <a:r>
              <a:rPr/>
              <a:t>단순히 거주하는 곳을 넘어 자신의 취향과 개성을 전시하는 쇼룸으로서의 공간 가치 재조명</a:t>
            </a:r>
          </a:p>
          <a:p>
            <a:pPr lvl="0"/>
            <a:r>
              <a:rPr/>
              <a:t>2030 세대의 60% 이상이 선호하는 프라이빗하고 편안한 나만의 공간 중심 연말 축제 분위기 조성</a:t>
            </a:r>
          </a:p>
          <a:p>
            <a:pPr lvl="0"/>
            <a:r>
              <a:rPr/>
              <a:t>저렴한 소품을 활용하면서도 품질은 호텔급을 지향하는 가성비 럭셔리(Affordable Luxury) 트렌드 부상</a:t>
            </a:r>
          </a:p>
          <a:p>
            <a:pPr lvl="0"/>
            <a:r>
              <a:rPr/>
              <a:t>배달 앱이나 밀키트 등 디지털 서비스를 적극 활용하여 준비 시간을 단축하고 효율성을 극대화함</a:t>
            </a:r>
          </a:p>
          <a:p>
            <a:pPr lvl="0" indent="0" marL="0">
              <a:buNone/>
            </a:pPr>
            <a:r>
              <a:rPr b="1"/>
              <a:t>[인포그래픽 1] 2025 홈파티 시장 동인</a:t>
            </a:r>
          </a:p>
          <a:p>
            <a:pPr lvl="0" indent="0">
              <a:buNone/>
            </a:pPr>
            <a:r>
              <a:rPr>
                <a:latin typeface="Courier"/>
              </a:rPr>
              <a:t>[고물가 경제] -&gt; [외식 부담 증가] -&gt; [홈파티 수요 급증]
      |               |                 |
(Affordable)     (Showrooming)     (Homeconomy)</a:t>
            </a:r>
          </a:p>
          <a:p>
            <a:pPr lvl="0" indent="0" marL="0">
              <a:buNone/>
            </a:pPr>
            <a:r>
              <a:rPr b="1"/>
              <a:t>[실무 사례 1] 2030 세대의 ‘어글리 스웨터’ 파티</a:t>
            </a:r>
            <a:r>
              <a:rPr/>
              <a:t> 드레스 코드를 어글리 스웨터로 지정하고 넷플릭스 영화를 정주행하며 가성비 와인을 즐기는 휴식형 파티가 일반화됨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2025년 홈파티 시장의 핵심 키워드인 ’가성비 럭셔리’와 ’홈코노미’를 소개합니다. 고물가로 인한 소비자 행동 변화가 어떻게 새로운 파티 문화를 만들었는지 설명하십시오.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송년 모임 문화 변화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세대별 인식 차이와 소규모화 경향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2030 세대의 절반 이상이 저녁 음주 회식을 기피하며 업무 시간 내 식사 중심 모임을 선호함</a:t>
            </a:r>
          </a:p>
          <a:p>
            <a:pPr lvl="0"/>
            <a:r>
              <a:rPr/>
              <a:t>4050 세대의 67% 이상이 여전히 연말 회식의 필요성을 강조하며 세대 간 인식 격차가 존재함</a:t>
            </a:r>
          </a:p>
          <a:p>
            <a:pPr lvl="0"/>
            <a:r>
              <a:rPr/>
              <a:t>코로나19 이후 늦은 밤까지 이어지는 음주 문화가 쇠퇴하고 소규모 점심 식사 형태로의 빠른 전환</a:t>
            </a:r>
          </a:p>
          <a:p>
            <a:pPr lvl="0"/>
            <a:r>
              <a:rPr/>
              <a:t>외식업계의 연말 특수가 사라지면서 자영업자들의 매출이 감소하고 경영 전략의 수정이 요구됨</a:t>
            </a:r>
          </a:p>
          <a:p>
            <a:pPr lvl="0"/>
            <a:r>
              <a:rPr/>
              <a:t>술에 대한 부정적 이미지 고착화로 인해 카페에서의 담소나 건전한 여가 활동이 회식의 대안으로 부상함</a:t>
            </a:r>
          </a:p>
          <a:p>
            <a:pPr lvl="0" indent="0" marL="0">
              <a:buNone/>
            </a:pPr>
            <a:r>
              <a:rPr b="1"/>
              <a:t>[표 1] 연령별 송년회 선호도 비교</a:t>
            </a:r>
            <a:r>
              <a:rPr/>
              <a:t> | 구분 | 2030 세대 | 4050 세대 | | :— | :— | :— | | </a:t>
            </a:r>
            <a:r>
              <a:rPr b="1"/>
              <a:t>선호 시간</a:t>
            </a:r>
            <a:r>
              <a:rPr/>
              <a:t> | 업무 시간 내 (점심) | 퇴근 후 (저녁) | | </a:t>
            </a:r>
            <a:r>
              <a:rPr b="1"/>
              <a:t>주요 활동</a:t>
            </a:r>
            <a:r>
              <a:rPr/>
              <a:t> | 식사 및 티타임 | 식사 및 음주 | | </a:t>
            </a:r>
            <a:r>
              <a:rPr b="1"/>
              <a:t>인식</a:t>
            </a:r>
            <a:r>
              <a:rPr/>
              <a:t> | 필수적이지 않음 | 조직 결속에 필수적 |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연령대별 회식 선호도의 극명한 차이를 데이터 기반으로 분석합니다. 자영업자들이 이러한 구조적 변화에 대응하기 위해 어떤 전략이 필요한지 논의하십시오.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홈파티 기획 단계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성공적인 파티를 위한 체계적 프로세스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파티의 일관성을 유지하기 위해 클래식, 화이트, 키치 등 명확한 디자인 테마를 우선적으로 설정함</a:t>
            </a:r>
          </a:p>
          <a:p>
            <a:pPr lvl="0"/>
            <a:r>
              <a:rPr/>
              <a:t>초대 인원을 확정하고 날짜, 장소, 드레스 코드가 포함된 디지털 또는 손편지 초대장을 사전에 발송함</a:t>
            </a:r>
          </a:p>
          <a:p>
            <a:pPr lvl="0"/>
            <a:r>
              <a:rPr/>
              <a:t>음식, 음료, 소품, 선물 등 항목별로 예산을 배분하여 불필요한 지출을 방지하고 효율성을 높임</a:t>
            </a:r>
          </a:p>
          <a:p>
            <a:pPr lvl="0"/>
            <a:r>
              <a:rPr/>
              <a:t>장식 준비부터 메뉴 선정, 음악 리스트 제작까지 세부 항목이 포함된 체크리스트를 작성하여 관리함</a:t>
            </a:r>
          </a:p>
          <a:p>
            <a:pPr lvl="0"/>
            <a:r>
              <a:rPr/>
              <a:t>신선한 재료 확보를 위해 대형마트의 새벽 배송이나 온라인 장보기 서비스를 전략적으로 활용함</a:t>
            </a:r>
          </a:p>
          <a:p>
            <a:pPr lvl="0" indent="0" marL="0">
              <a:buNone/>
            </a:pPr>
            <a:r>
              <a:rPr b="1"/>
              <a:t>[표 2] 홈파티 준비 항목별 권장 예산 비중</a:t>
            </a:r>
            <a:r>
              <a:rPr/>
              <a:t> | 항목 | 비중 | 주요 포함 내용 | | :— | :— | :— | | </a:t>
            </a:r>
            <a:r>
              <a:rPr b="1"/>
              <a:t>식사/음료</a:t>
            </a:r>
            <a:r>
              <a:rPr/>
              <a:t> | 50% | 메인 요리(RMR), 와인, 디저트 | | </a:t>
            </a:r>
            <a:r>
              <a:rPr b="1"/>
              <a:t>데코/소품</a:t>
            </a:r>
            <a:r>
              <a:rPr/>
              <a:t> | 20% | LED 조명, 가랜드, 테이블웨어 | | </a:t>
            </a:r>
            <a:r>
              <a:rPr b="1"/>
              <a:t>이벤트/게임</a:t>
            </a:r>
            <a:r>
              <a:rPr/>
              <a:t> | 15% | 보드게임, 퀴즈 상품 | | </a:t>
            </a:r>
            <a:r>
              <a:rPr b="1"/>
              <a:t>예비비/선물</a:t>
            </a:r>
            <a:r>
              <a:rPr/>
              <a:t> | 15% | 마니또 선물, 소모품 |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파티 호스트가 갖춰야 할 기획 역량을 설명합니다. 예산 배분과 체크리스트 작성의 중요성을 강조하여 초보자도 쉽게 따라 할 수 있도록 안내하십시오.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인테리어 트렌드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딥 버건디와 미니멀리즘의 조화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2025년 메인 컬러로 쨍한 레드 대신 깊고 우아한 분위기를 연출하는 ‘딥 버건디’ 색상이 부상함</a:t>
            </a:r>
          </a:p>
          <a:p>
            <a:pPr lvl="0"/>
            <a:r>
              <a:rPr/>
              <a:t>벨벳 소재의 쿠션이나 테이블 러너를 활용하여 공간에 무게감을 더하고 고급스러운 무드를 조성함</a:t>
            </a:r>
          </a:p>
          <a:p>
            <a:pPr lvl="0"/>
            <a:r>
              <a:rPr/>
              <a:t>버건디와 더스티 핑크, 실버 등 의외의 색상 조합을 믹스 매치하여 세련된 스타일링을 완성함</a:t>
            </a:r>
          </a:p>
          <a:p>
            <a:pPr lvl="0"/>
            <a:r>
              <a:rPr/>
              <a:t>화려한 장식보다는 차분한 북유럽 감성의 미니멀한 소품 배치를 통해 공간의 여백을 미학적으로 활용함</a:t>
            </a:r>
          </a:p>
          <a:p>
            <a:pPr lvl="0"/>
            <a:r>
              <a:rPr/>
              <a:t>형광등 대신 노란빛의 간접 조명이나 앵두 전구를 배치하여 따뜻하고 사진이 잘 나오는 환경을 구축함</a:t>
            </a:r>
          </a:p>
          <a:p>
            <a:pPr lvl="0" indent="0" marL="0">
              <a:buNone/>
            </a:pPr>
            <a:r>
              <a:rPr b="1"/>
              <a:t>[실무 사례 2] 컬러 팔레트 적용</a:t>
            </a:r>
            <a:r>
              <a:rPr/>
              <a:t> 거실 소파에 버건디 벨벳 쿠션을 배치하고 테이블에는 실버 소재의 촛대를 놓아 현대적인 크리스마스 분위기를 구현함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올해의 인테리어 핵심인 컬러와 소재의 변화를 설명합니다. 조명이 사진 결과물에 미치는 영향과 따뜻한 색감의 중요성을 강조하십시오.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공간 활용 아이디어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좁은 공간을 위한 가성비 DIY 트리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집안의 데드스페이스인 튀어나온 모서리 공간을 활용하여 공간 점유를 최소화하는 모서리 트리를 제작함</a:t>
            </a:r>
          </a:p>
          <a:p>
            <a:pPr lvl="0"/>
            <a:r>
              <a:rPr/>
              <a:t>다이소에서 구매한 미니 후크, 풍성 모루, 스트링 라이트 등 저렴한 소품을 사용하여 경제성을 확보함</a:t>
            </a:r>
          </a:p>
          <a:p>
            <a:pPr lvl="0"/>
            <a:r>
              <a:rPr/>
              <a:t>마스킹 테이프로 삼각형 가이드를 만들고 지그재그 형태로 모루를 걸어 풍성한 입체감을 구현함</a:t>
            </a:r>
          </a:p>
          <a:p>
            <a:pPr lvl="0"/>
            <a:r>
              <a:rPr/>
              <a:t>안 읽는 책을 포장지로 감싸 나무 밑동처럼 연출함으로써 아날로그적인 감성과 안정감을 동시에 부여함</a:t>
            </a:r>
          </a:p>
          <a:p>
            <a:pPr lvl="0"/>
            <a:r>
              <a:rPr/>
              <a:t>부피가 큰 나무 트리와 달리 설치와 철거가 간편하여 파티 후 보관에 대한 심리적 부담을 획기적으로 낮춤</a:t>
            </a:r>
          </a:p>
          <a:p>
            <a:pPr lvl="0" indent="0" marL="0">
              <a:buNone/>
            </a:pPr>
            <a:r>
              <a:rPr b="1"/>
              <a:t>[인포그래픽 2] 모서리 트리 제작 프로세스</a:t>
            </a:r>
          </a:p>
          <a:p>
            <a:pPr lvl="0" indent="0">
              <a:buNone/>
            </a:pPr>
            <a:r>
              <a:rPr>
                <a:latin typeface="Courier"/>
              </a:rPr>
              <a:t>[가이드 테이핑] -&gt; [후크 및 모루 설치] -&gt; [조명 및 오너먼트] -&gt; [책 베이스 배치]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좁은 주거 공간에서도 크리스마스 분위기를 낼 수 있는 실용적인 팁을 공유합니다. 다이소 등 가성비 채널의 구체적인 준비물 리스트를 언급하십시오.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테이블 세팅 원칙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입체감과 오브제화를 통한 연출법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모든 음식을 평면적으로 배치하지 않고 화병이나 받침대를 사용하여 높낮이의 변화를 주는 입체적 연출</a:t>
            </a:r>
          </a:p>
          <a:p>
            <a:pPr lvl="0"/>
            <a:r>
              <a:rPr/>
              <a:t>긴 브레드 스틱을 깨끗이 씻은 화병에 꽂아 세로형 오브제로 활용함으로써 시각적 풍성함을 극대화함</a:t>
            </a:r>
          </a:p>
          <a:p>
            <a:pPr lvl="0"/>
            <a:r>
              <a:rPr/>
              <a:t>블랙 테이블보를 베이스로 성류나 꽃 등 레드 포인트를 더해 섹시하고 강렬한 파티 분위기를 조성함</a:t>
            </a:r>
          </a:p>
          <a:p>
            <a:pPr lvl="0"/>
            <a:r>
              <a:rPr/>
              <a:t>치즈나 과일을 비정형적으로 썰어 배치함으로써 사이즈 오차를 줄이고 시각적인 자연스러움을 강조함</a:t>
            </a:r>
          </a:p>
          <a:p>
            <a:pPr lvl="0"/>
            <a:r>
              <a:rPr/>
              <a:t>손님이 많은 경우 개별 꼬치 형태의 서빙 방식을 채택하여 위생과 시각적 효과를 동시에 확보함</a:t>
            </a:r>
          </a:p>
          <a:p>
            <a:pPr lvl="0" indent="0" marL="0">
              <a:buNone/>
            </a:pPr>
            <a:r>
              <a:rPr b="1"/>
              <a:t>[실무 사례 3] 업앤다운(Up &amp; Down) 기법</a:t>
            </a:r>
            <a:r>
              <a:rPr/>
              <a:t> 케이크 스탠드가 없을 때 접시 두 개를 겹쳐서 높이를 주거나 테이블 색과 맞는 책을 받쳐 메인 요리를 돋보이게 함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전문적인 플레이팅의 핵심인 ‘입체감’ 구현 방법을 설명합니다. 식기 고정관념을 깨고 화병이나 책을 활용하는 창의적인 접근을 독려하십시오.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푸드 트렌드 1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호텔 밀키트와 RMR의 진화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유명 호텔 뷔페나 고급 레스토랑의 맛을 집에서 재현할 수 있는 RMR(레스토랑 간편식)의 대중화</a:t>
            </a:r>
          </a:p>
          <a:p>
            <a:pPr lvl="0"/>
            <a:r>
              <a:rPr/>
              <a:t>조리 과정이 간단하면서도 완성도가 높은 토마호크 스테이크, 랍스터 등 프리미엄 메뉴의 인기 상승</a:t>
            </a:r>
          </a:p>
          <a:p>
            <a:pPr lvl="0"/>
            <a:r>
              <a:rPr/>
              <a:t>딤섬의 여왕 정지선 셰프의 고메 딤섬처럼 전문점 수준의 맛을 보장하는 스타 셰프 협업 제품의 확산</a:t>
            </a:r>
          </a:p>
          <a:p>
            <a:pPr lvl="0"/>
            <a:r>
              <a:rPr/>
              <a:t>가니쉬 야채와 특제 소스, 플레이팅 가이드가 포함되어 있어 초보자도 호텔급 품질의 요리가 가능함</a:t>
            </a:r>
          </a:p>
          <a:p>
            <a:pPr lvl="0"/>
            <a:r>
              <a:rPr/>
              <a:t>예약 전쟁이나 웨이팅 없이 집에서 즐기는 ‘스몰 럭셔리’ 소비 심리가 반영된 프리미엄 간편식 시장 성장</a:t>
            </a:r>
          </a:p>
          <a:p>
            <a:pPr lvl="0" indent="0" marL="0">
              <a:buNone/>
            </a:pPr>
            <a:r>
              <a:rPr b="1"/>
              <a:t>[표 3] 2025 인기 홈파티 RMR 메뉴 추천</a:t>
            </a:r>
            <a:r>
              <a:rPr/>
              <a:t> | 메뉴명 | 브랜드/셰프 | 조리 특징 | 추천 포인트 | | :— | :— | :— | :— | | </a:t>
            </a:r>
            <a:r>
              <a:rPr b="1"/>
              <a:t>토마호크 스테이크</a:t>
            </a:r>
            <a:r>
              <a:rPr/>
              <a:t> | 호텔 시그니처 | 프라이팬 조리 | 메인 요리의 중량감 | | </a:t>
            </a:r>
            <a:r>
              <a:rPr b="1"/>
              <a:t>새우하가우</a:t>
            </a:r>
            <a:r>
              <a:rPr/>
              <a:t> | 정지선 셰프 | 전자레인지 2.5분 | 쫄깃하고 투명한 피 | | </a:t>
            </a:r>
            <a:r>
              <a:rPr b="1"/>
              <a:t>반조리 찜닭</a:t>
            </a:r>
            <a:r>
              <a:rPr/>
              <a:t> | 하림 냄비요리 | 끓이기만 하면 완성 | 대중적인 맛과 양 |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밀키트가 단순한 간편식을 넘어 ’호텔급 경험’으로 진화했음을 설명합니다. 시간 효율성과 품질 사이의 균형을 맞춘 영리한 소비 방식을 제시하십시오.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푸드 트렌드 2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양극화된 케이크와 디저트 시장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10만 원이 넘는 호텔 케이크와 1~2만 원대의 편의점 캐릭터 케이크로 소비 패턴이 뚜렷하게 나뉨</a:t>
            </a:r>
          </a:p>
          <a:p>
            <a:pPr lvl="0"/>
            <a:r>
              <a:rPr/>
              <a:t>인스타그램 인증샷 열풍을 겨냥한 호텔의 ‘화이트 트리 케이크’ 등 고가 제품의 광속 매진 현상 발생</a:t>
            </a:r>
          </a:p>
          <a:p>
            <a:pPr lvl="0"/>
            <a:r>
              <a:rPr/>
              <a:t>유명 아이돌과 콜라보한 편의점 미니 케이크는 사전 예약을 통해 실속과 재미를 동시에 추구하는 층에게 인기임</a:t>
            </a:r>
          </a:p>
          <a:p>
            <a:pPr lvl="0"/>
            <a:r>
              <a:rPr/>
              <a:t>요거트 베이스에 초콜릿이나 피스타치오 풍미를 더한 프리미엄 디저트가 파티 마무리 메뉴로 주목받음</a:t>
            </a:r>
          </a:p>
          <a:p>
            <a:pPr lvl="0"/>
            <a:r>
              <a:rPr/>
              <a:t>가족이나 연인이 함께 케이크를 꾸밀 수 있는 DIY 키트 판매가 늘어나며 체험형 파티 문화가 확산됨</a:t>
            </a:r>
          </a:p>
          <a:p>
            <a:pPr lvl="0" indent="0" marL="0">
              <a:buNone/>
            </a:pPr>
            <a:r>
              <a:rPr b="1"/>
              <a:t>[표 4] 2025 케이크 시장 양극화 분석</a:t>
            </a:r>
            <a:r>
              <a:rPr/>
              <a:t> | 구분 | 호텔 프리미엄 케이크 | 편의점/PB 가성비 케이크 | | :— | :— | :— | | </a:t>
            </a:r>
            <a:r>
              <a:rPr b="1"/>
              <a:t>가격대</a:t>
            </a:r>
            <a:r>
              <a:rPr/>
              <a:t> | 10만 원 ~ 20만 원대 | 1만 원 ~ 3만 원대 | | </a:t>
            </a:r>
            <a:r>
              <a:rPr b="1"/>
              <a:t>핵심 가치</a:t>
            </a:r>
            <a:r>
              <a:rPr/>
              <a:t> | 희소성, SNS 전시 효과 | 실용성, 캐릭터 굿즈 | | </a:t>
            </a:r>
            <a:r>
              <a:rPr b="1"/>
              <a:t>구매 방식</a:t>
            </a:r>
            <a:r>
              <a:rPr/>
              <a:t> | 11월 초 조기 마감 | 앱 기반 사전 예약 할인 |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케이크 시장의 양극화 현상을 통해 소비자의 가치 소비 경향을 분석합니다. DIY 키트 등 새로운 디저트 소비 형태를 언급하며 분위기에 맞는 선택을 도우십시오.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주류 큐레이션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분위기를 돋우는 홀리데이 에디션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크리스마스트리 모양의 독특한 병 디자인으로 테이블 장식 효과가 탁월한 모젤 리슬링 와인의 인기</a:t>
            </a:r>
          </a:p>
          <a:p>
            <a:pPr lvl="0"/>
            <a:r>
              <a:rPr/>
              <a:t>산타 캐릭터와 눈 내리는 풍경을 라벨에 입힌 테라 맥주 등 브랜드별 한정판 에디션의 시각적 즐거움</a:t>
            </a:r>
          </a:p>
          <a:p>
            <a:pPr lvl="0"/>
            <a:r>
              <a:rPr/>
              <a:t>스테이크 등 진한 맛의 요리와 조화를 이루며 붉은 패키지로 연말 분위기를 살리는 말벡 레드 와인 추천</a:t>
            </a:r>
          </a:p>
          <a:p>
            <a:pPr lvl="0"/>
            <a:r>
              <a:rPr/>
              <a:t>눈꽃 장식 라벨과 풍부한 거품이 특징인 산테로 모스카토 등 가성비 좋은 스파클링 와인의 대중화</a:t>
            </a:r>
          </a:p>
          <a:p>
            <a:pPr lvl="0"/>
            <a:r>
              <a:rPr/>
              <a:t>세라믹 소재의 화이트 전용잔을 포함한 스텔라 아르투아 에디션 등 소장 가치가 높은 패키지 상품 출시</a:t>
            </a:r>
          </a:p>
          <a:p>
            <a:pPr lvl="0" indent="0" marL="0">
              <a:buNone/>
            </a:pPr>
            <a:r>
              <a:rPr b="1"/>
              <a:t>[표 5] 상황별 추천 와인 3종 특징</a:t>
            </a:r>
            <a:r>
              <a:rPr/>
              <a:t> | 와인명 | 종류 | 맛의 특징 | 최적의 상황 | | :— | :— | :— | :— | | </a:t>
            </a:r>
            <a:r>
              <a:rPr b="1"/>
              <a:t>모젤 리슬링</a:t>
            </a:r>
            <a:r>
              <a:rPr/>
              <a:t> | 화이트 | 상큼하고 달콤한 과일 향 | 식전주 및 테이블 장식 | | </a:t>
            </a:r>
            <a:r>
              <a:rPr b="1"/>
              <a:t>산테로 모스카토</a:t>
            </a:r>
            <a:r>
              <a:rPr/>
              <a:t> | 스파클링 | 풍부한 기포와 신선한 산미 | 가벼운 안주와 파티 시작 | | </a:t>
            </a:r>
            <a:r>
              <a:rPr b="1"/>
              <a:t>트리벤토 말벡</a:t>
            </a:r>
            <a:r>
              <a:rPr/>
              <a:t> | 레드 | 부드럽고 우아한 풍미 | 스테이크 등 육류 식사 |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와인의 맛뿐만 아니라 ’병의 형태’와 ’패키지 디자인’이 홈파티 인테리어 요소로 작용함을 강조하십시오. 주종별 어울리는 요리 조합(Pairing)을 설명하십시오.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세계의 크리스마스 1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아시아와 유럽의 전통 요리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중국에서는 레스토랑 외식을 선호하며 평화와 안녕을 상징하는 사과를 선물하는 독특한 풍습이 존재함</a:t>
            </a:r>
          </a:p>
          <a:p>
            <a:pPr lvl="0"/>
            <a:r>
              <a:rPr/>
              <a:t>일본은 1970년대 마케팅 영향으로 KFC 치킨을 먹는 것이 국민적 관습이 되었으며 스폰지 케이크를 즐김</a:t>
            </a:r>
          </a:p>
          <a:p>
            <a:pPr lvl="0"/>
            <a:r>
              <a:rPr/>
              <a:t>필리핀의 노체 부에나에서는 돼지 통구이인 레촌과 붉은 왁스로 덮인 케소 데 볼라 치즈가 중심임</a:t>
            </a:r>
          </a:p>
          <a:p>
            <a:pPr lvl="0"/>
            <a:r>
              <a:rPr/>
              <a:t>독일의 전통 만찬은 거위구이와 로스트 잉어를 주 메뉴로 하며 말린 과일이 든 슈톨렌 빵을 곁들임</a:t>
            </a:r>
          </a:p>
          <a:p>
            <a:pPr lvl="0"/>
            <a:r>
              <a:rPr/>
              <a:t>이탈리아에서는 파네토네와 판도로 같은 달콤한 빵을 모스카토 와인과 함께 나누어 먹는 전통이 있음</a:t>
            </a:r>
          </a:p>
          <a:p>
            <a:pPr lvl="0" indent="0" marL="0">
              <a:buNone/>
            </a:pPr>
            <a:r>
              <a:rPr b="1"/>
              <a:t>[실무 사례 4] 일본의 KFC 예약 대란</a:t>
            </a:r>
            <a:r>
              <a:rPr/>
              <a:t> 크리스마스 시즌 일본 KFC는 몇 달 전부터 예약을 받아야 할 정도로 치열하며 이는 대표적인 문화 현상으로 정착됨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글로벌 크리스마스 음식 문화를 소개하여 홈파티 테마 설정에 영감을 줍니다. 각 국가의 전통이 현대 마케팅과 결합된 사례(일본)도 흥미롭게 전달하십시오.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세계의 크리스마스 2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북미와 오세아니아의 만찬 스타일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영국과 캐나다에서는 로스트 칠면조와 감자, 그레이비 소스, 크리스마스 푸딩을 먹는 정통 방식을 고수함</a:t>
            </a:r>
          </a:p>
          <a:p>
            <a:pPr lvl="0"/>
            <a:r>
              <a:rPr/>
              <a:t>미국 남부에서는 칠면조보다 오래된 전통인 컨트리 햄을 즐기며 쿠키를 직접 구워 이웃과 나눔</a:t>
            </a:r>
          </a:p>
          <a:p>
            <a:pPr lvl="0"/>
            <a:r>
              <a:rPr/>
              <a:t>미국 유대인 사회에서는 크리스마스에도 영업하는 중국 음식점을 방문해 외식을 즐기는 독특한 문화가 있음</a:t>
            </a:r>
          </a:p>
          <a:p>
            <a:pPr lvl="0"/>
            <a:r>
              <a:rPr/>
              <a:t>오스트레일리아는 여름 기후로 인해 칠면조를 차갑게 서빙하거나 야외 바비큐, 해산물 요리를 즐김</a:t>
            </a:r>
          </a:p>
          <a:p>
            <a:pPr lvl="0"/>
            <a:r>
              <a:rPr/>
              <a:t>호주식 머랭 디저트인 파블로바 위에 신선한 제철 과일과 휘핑 크림을 얹어 시원하게 파티를 마무리함</a:t>
            </a:r>
          </a:p>
          <a:p>
            <a:pPr lvl="0" indent="0" marL="0">
              <a:buNone/>
            </a:pPr>
            <a:r>
              <a:rPr b="1"/>
              <a:t>[인포그래픽 3] 대륙별 메인 단백질 선호도</a:t>
            </a:r>
          </a:p>
          <a:p>
            <a:pPr lvl="0" indent="0">
              <a:buNone/>
            </a:pPr>
            <a:r>
              <a:rPr>
                <a:latin typeface="Courier"/>
              </a:rPr>
              <a:t>[유럽/북미] : 칠면조(Turkey), 거위(Goose)
[남미/아시아] : 돼지(Lechon), 햄(Ham)
[오세아니아] : 해산물(Seafood), 바비큐(BBQ)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지리적 위치와 기후에 따라 달라지는 음식 문화를 설명합니다. 특히 남반구의 ’여름 크리스마스’가 식단에 미치는 영향(차가운 음식)을 강조하십시오.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파티 플레이리스트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공간의 온도를 높이는 음악 선정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요양원이나 홈파티 등 대중적인 장소에서는 듣기 편하고 밝은 분위기의 클래식 곡들을 우선 선곡함</a:t>
            </a:r>
          </a:p>
          <a:p>
            <a:pPr lvl="0"/>
            <a:r>
              <a:rPr/>
              <a:t>프로코피예프의 ‘트로이카’나 모차르트의 ’썰매 타기’ 등 경쾌한 오케스트라 사운드로 활기찬 분위기 조성</a:t>
            </a:r>
          </a:p>
          <a:p>
            <a:pPr lvl="0"/>
            <a:r>
              <a:rPr/>
              <a:t>피아노 트리오나 브라스 퀸텟으로 편곡된 크리스마스 앨범을 활용해 세련된 호텔 라운지 느낌 구현</a:t>
            </a:r>
          </a:p>
          <a:p>
            <a:pPr lvl="0"/>
            <a:r>
              <a:rPr/>
              <a:t>데이식스나 프로미스나인 등 대세 아티스트들의 최신 K-캐럴을 통해 트렌디하고 감성적인 무드 연출</a:t>
            </a:r>
          </a:p>
          <a:p>
            <a:pPr lvl="0"/>
            <a:r>
              <a:rPr/>
              <a:t>비트감이 살아있는 시티팝 느낌의 캐럴을 배경 음악으로 설정하여 모던한 홈파티 인테리어와 조화시킴</a:t>
            </a:r>
          </a:p>
          <a:p>
            <a:pPr lvl="0" indent="0" marL="0">
              <a:buNone/>
            </a:pPr>
            <a:r>
              <a:rPr b="1"/>
              <a:t>[표 6] 분위기별 클래식/K-팝 선곡 가이드</a:t>
            </a:r>
            <a:r>
              <a:rPr/>
              <a:t> | 테마 | 추천 곡 / 아티스트 | 기대 효과 | | :— | :— | :— | | </a:t>
            </a:r>
            <a:r>
              <a:rPr b="1"/>
              <a:t>클래식/정통</a:t>
            </a:r>
            <a:r>
              <a:rPr/>
              <a:t> | 헨델 ‘메시아’ (말콤 서전트) | 웅장하고 경건한 연말 무드 | | </a:t>
            </a:r>
            <a:r>
              <a:rPr b="1"/>
              <a:t>세련된/재즈</a:t>
            </a:r>
            <a:r>
              <a:rPr/>
              <a:t> | 이킨 피아노 트리오 편곡 앨범 | 고급스러운 카페 분위기 | | </a:t>
            </a:r>
            <a:r>
              <a:rPr b="1"/>
              <a:t>트렌디/영</a:t>
            </a:r>
            <a:r>
              <a:rPr/>
              <a:t> | 최신 K-캐럴 (데이식스 등) | 밝고 친근한 인스타 감성 |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음악이 공간의 완성도를 결정하는 ’마지막 퍼즐’임을 설명합니다. 소스에 등장한 다양한 클래식 추천 곡들과 최신 K-캐럴 트렌드를 적절히 섞어 제안하십시오.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엔터테인먼트 요소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파티의 재미를 더하는 영화와 게임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1991년 개봉 이후 세대를 아우르며 사랑받는 ‘나 홀로 집에’ 시리즈 등 고전 영화를 통한 추억 공유</a:t>
            </a:r>
          </a:p>
          <a:p>
            <a:pPr lvl="0"/>
            <a:r>
              <a:rPr/>
              <a:t>’홀리데이트’나 ’해피뉴이어’처럼 연말연시의 설렘과 로맨틱한 감성을 자극하는 로드무비 형식의 영화 감상</a:t>
            </a:r>
          </a:p>
          <a:p>
            <a:pPr lvl="0"/>
            <a:r>
              <a:rPr/>
              <a:t>다이소에서 구매한 가성비 보드게임이나 카드게임을 활용하여 참석자 전원이 참여하는 레크리에이션 진행</a:t>
            </a:r>
          </a:p>
          <a:p>
            <a:pPr lvl="0"/>
            <a:r>
              <a:rPr/>
              <a:t>1만 원 내외의 예산으로 중고 장터를 활용한 독특한 선물을 준비해 나누는 실속형 선물 교환 이벤트</a:t>
            </a:r>
          </a:p>
          <a:p>
            <a:pPr lvl="0"/>
            <a:r>
              <a:rPr/>
              <a:t>산타 모자나 루돌프 코 등 코스튬 소품을 비치하고 전용 포토존에서 촬영하는 기록 활동의 즐거움</a:t>
            </a:r>
          </a:p>
          <a:p>
            <a:pPr lvl="0" indent="0" marL="0">
              <a:buNone/>
            </a:pPr>
            <a:r>
              <a:rPr b="1"/>
              <a:t>[실무 사례 5] 화이트 엘리펀트(White Elephant) 게임</a:t>
            </a:r>
            <a:r>
              <a:rPr/>
              <a:t> 우스꽝스럽거나 의외의 선물을 준비하여 서로 뺏고 뺏기는 과정을 통해 파티의 긴장감과 웃음을 유발함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식사 이후의 시간을 풍성하게 만드는 놀이 문화를 소개합니다. 비용 부담은 낮추면서도 참여도는 높일 수 있는 ‘화이트 엘리펀트’ 게임 규칙을 간단히 설명하십시오.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연말 선물 트렌드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실용성과 취향을 존중하는 큐레이션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고가의 명품보다는 받는 사람의 라이프스타일을 배려한 인센스 스틱, 핸드크림 등 웰니스 아이템 선호</a:t>
            </a:r>
          </a:p>
          <a:p>
            <a:pPr lvl="0"/>
            <a:r>
              <a:rPr/>
              <a:t>매일 하나씩 뜯어보는 재미를 선사하는 어드벤트 캘린더 형태의 초콜릿이나 티(Tea) 세트가 인기임</a:t>
            </a:r>
          </a:p>
          <a:p>
            <a:pPr lvl="0"/>
            <a:r>
              <a:rPr/>
              <a:t>최근의 위스키 열풍을 반영하여 센스 있는 선물로 꼽히는 미니어처 위스키 세트 등 주류 관련 선물</a:t>
            </a:r>
          </a:p>
          <a:p>
            <a:pPr lvl="0"/>
            <a:r>
              <a:rPr/>
              <a:t>디지털 시대에 진심을 담아 전달하는 아날로그 감성의 손편지와 카드로 선물의 정서적 가치를 극대화함</a:t>
            </a:r>
          </a:p>
          <a:p>
            <a:pPr lvl="0"/>
            <a:r>
              <a:rPr/>
              <a:t>3~5만 원대 가격선을 정해 부담을 줄이면서도 서로의 취향을 탐색하는 마니또 문화의 일상화</a:t>
            </a:r>
          </a:p>
          <a:p>
            <a:pPr lvl="0" indent="0" marL="0">
              <a:buNone/>
            </a:pPr>
            <a:r>
              <a:rPr b="1"/>
              <a:t>[실무 사례 6] 어드벤트 캘린더의 선물화</a:t>
            </a:r>
            <a:r>
              <a:rPr/>
              <a:t> 12월 초부터 파티 당일까지 매일 작은 기쁨을 누릴 수 있는 어드벤트 캘린더를 선물하여 연말 분위기를 연장함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과시형 소비에서 실속형 소비로 변화한 선물 트렌드를 설명합니다. 상대방의 ’취향’을 존중하는 작은 배려가 선물의 가치를 결정함을 강조하십시오.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호스트의 매너와 팁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즐거운 파티 운영을 위한 마음가짐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호스트가 요리에만 매몰되지 않도록 RMR 등을 활용하여 자신의 컨디션을 최상으로 유지하는 것이 중요함</a:t>
            </a:r>
          </a:p>
          <a:p>
            <a:pPr lvl="0"/>
            <a:r>
              <a:rPr/>
              <a:t>호스트가 웃고 즐거워해야 파티 전체의 분위기가 살아나므로 지나친 완벽주의보다는 여유를 가짐</a:t>
            </a:r>
          </a:p>
          <a:p>
            <a:pPr lvl="0"/>
            <a:r>
              <a:rPr/>
              <a:t>손님들이 도착하는 시간이 제각각임을 고려하여 미리 식어도 맛있는 핑거푸드를 세팅해 두는 세심함</a:t>
            </a:r>
          </a:p>
          <a:p>
            <a:pPr lvl="0"/>
            <a:r>
              <a:rPr/>
              <a:t>낯선 손님들끼리도 자연스럽게 대화할 수 있도록 화제를 유도하거나 간단한 자기소개 시간을 마련함</a:t>
            </a:r>
          </a:p>
          <a:p>
            <a:pPr lvl="0"/>
            <a:r>
              <a:rPr/>
              <a:t>손님의 이름을 적은 네임카드를 자리에 배치하여 대접받는 느낌과 특별한 소속감을 전달함</a:t>
            </a:r>
          </a:p>
          <a:p>
            <a:pPr lvl="0" indent="0" marL="0">
              <a:buNone/>
            </a:pPr>
            <a:r>
              <a:rPr b="1"/>
              <a:t>[인포그래픽 4] 호스트의 에너지 관리 공식</a:t>
            </a:r>
          </a:p>
          <a:p>
            <a:pPr lvl="0" indent="0">
              <a:buNone/>
            </a:pPr>
            <a:r>
              <a:rPr>
                <a:latin typeface="Courier"/>
              </a:rPr>
              <a:t>[준비 30%] + [조리 20%] + [손님 응대 50%] = 성공적인 파티
      ^             ^             ^
 (철저한 계획) (간편식 활용)  (함께 즐기기)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파티의 주인공은 음식이 아니라 ’사람’임을 상기시킵니다. 호스트가 손님과 함께 소통할 시간을 확보하기 위해 어떤 전략이 필요한지 설명하십시오.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생태적 크리스마스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제로웨이스트를 실천하는 에코 파티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100년 동안 썩지 않는 플라스틱 트리 대신 반려식물을 꾸미거나 재활용 가능한 벽트리 등으로 대체함</a:t>
            </a:r>
          </a:p>
          <a:p>
            <a:pPr lvl="0"/>
            <a:r>
              <a:rPr/>
              <a:t>전력 소모가 많은 조명은 꼭 필요한 시간에만 켜거나 에너지 효율이 높은 LED 전구를 사용하여 탄소 절감</a:t>
            </a:r>
          </a:p>
          <a:p>
            <a:pPr lvl="0"/>
            <a:r>
              <a:rPr/>
              <a:t>미세플라스틱의 주범인 글리터(반짝이) 소품 사용을 지양하고 종이나 천 소재의 친환경 장식물 활용</a:t>
            </a:r>
          </a:p>
          <a:p>
            <a:pPr lvl="0"/>
            <a:r>
              <a:rPr/>
              <a:t>일회용 포장지 대신 보자기나 신문지 등을 재활용한 친환경 포장법을 통해 쓰레기 발생을 최소화함</a:t>
            </a:r>
          </a:p>
          <a:p>
            <a:pPr lvl="0"/>
            <a:r>
              <a:rPr/>
              <a:t>지역 생산 식재료(로컬 푸드)를 구매하여 장거리 운송 과정에서 발생하는 탄소 발자국을 줄이려 노력함</a:t>
            </a:r>
          </a:p>
          <a:p>
            <a:pPr lvl="0" indent="0" marL="0">
              <a:buNone/>
            </a:pPr>
            <a:r>
              <a:rPr b="1"/>
              <a:t>[표 7] 친환경 파티를 위한 대안 리스트</a:t>
            </a:r>
            <a:r>
              <a:rPr/>
              <a:t> | 기존 항목 | 친환경 대안 | 기대 효과 | | :— | :— | :— | | </a:t>
            </a:r>
            <a:r>
              <a:rPr b="1"/>
              <a:t>플라스틱 트리</a:t>
            </a:r>
            <a:r>
              <a:rPr/>
              <a:t> | 반려식물 데코 / 벽트리 | 폐기물 감소 및 재활용 | | </a:t>
            </a:r>
            <a:r>
              <a:rPr b="1"/>
              <a:t>화려한 글리터</a:t>
            </a:r>
            <a:r>
              <a:rPr/>
              <a:t> | 종이/천 소재 오너먼트 | 미세플라스틱 방지 | | </a:t>
            </a:r>
            <a:r>
              <a:rPr b="1"/>
              <a:t>코팅 포장지</a:t>
            </a:r>
            <a:r>
              <a:rPr/>
              <a:t> | 보자기 / 재활용 종이 | 제로웨이스트 실천 |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축제의 즐거움 뒤에 남는 환경 문제를 환기시킵니다. 거창한 실천보다는 작은 소품의 변화부터 시작하는 ’생태적인 크리스마스’의 의미를 전달하십시오.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반려동물 안전 관리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안전사고 예방을 위한 체크리스트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진짜 전나무 트리의 오일 성분이 반려동물에게 구토를 유발할 수 있으므로 잎을 씹지 않도록 주의함</a:t>
            </a:r>
          </a:p>
          <a:p>
            <a:pPr lvl="0"/>
            <a:r>
              <a:rPr/>
              <a:t>화려한 조명 전선을 씹을 경우 감전 사고의 위험이 있으므로 전구는 가급적 트리 위쪽에만 설치함</a:t>
            </a:r>
          </a:p>
          <a:p>
            <a:pPr lvl="0"/>
            <a:r>
              <a:rPr/>
              <a:t>반려동물에게 치명적인 초콜릿(테오브로민)이나 알코올이 든 음식이 식탁 위에 방치되지 않도록 관리함</a:t>
            </a:r>
          </a:p>
          <a:p>
            <a:pPr lvl="0"/>
            <a:r>
              <a:rPr/>
              <a:t>반짝이는 틴셀 장식물을 삼킬 경우 장폐색 등 심각한 위장 부상을 초래할 수 있으므로 각별히 유의함</a:t>
            </a:r>
          </a:p>
          <a:p>
            <a:pPr lvl="0"/>
            <a:r>
              <a:rPr/>
              <a:t>파티의 소음은 동물에게 스트레스가 되므로 조용히 쉴 수 있는 독립된 공간을 반드시 마련해 줌</a:t>
            </a:r>
          </a:p>
          <a:p>
            <a:pPr lvl="0" indent="0" marL="0">
              <a:buNone/>
            </a:pPr>
            <a:r>
              <a:rPr b="1"/>
              <a:t>[표 8] 반려동물 위험 요소 및 대응책</a:t>
            </a:r>
            <a:r>
              <a:rPr/>
              <a:t> | 위험 항목 | 위험 결과 | 예방 및 대응 | | :— | :— | :— | | </a:t>
            </a:r>
            <a:r>
              <a:rPr b="1"/>
              <a:t>전나무 잎</a:t>
            </a:r>
            <a:r>
              <a:rPr/>
              <a:t> | 구토, 위장 천공 | 접근 차단 및 가짜 트리 사용 | | </a:t>
            </a:r>
            <a:r>
              <a:rPr b="1"/>
              <a:t>전선/전구</a:t>
            </a:r>
            <a:r>
              <a:rPr/>
              <a:t> | 감전, 입안 화상 | 전선 보호 캡 사용 및 상단 설치 | | </a:t>
            </a:r>
            <a:r>
              <a:rPr b="1"/>
              <a:t>초콜릿/술</a:t>
            </a:r>
            <a:r>
              <a:rPr/>
              <a:t> | 발작, 사망 위험 | 섭취 즉시 동물병원 방문 |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파티 중 발생할 수 있는 반려동물 안전 사고를 예방하기 위한 지침입니다. 특히 ‘틴셀’이나 ’초콜릿’ 등 일상적인 파티 소품의 위험성을 경고하십시오.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사진 촬영 노하우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어두운 실내에서 인생샷 남기는 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실내 저조도 환경에서는 플래시가 필수적이며 1/15~1/30초의 느린 셔터로 주변광과 조화를 이룸</a:t>
            </a:r>
          </a:p>
          <a:p>
            <a:pPr lvl="0"/>
            <a:r>
              <a:rPr/>
              <a:t>느린 셔터 속도와 플래시를 결합하면 피사체는 선명하게, 배경의 움직임은 몽환적으로 표현 가능함</a:t>
            </a:r>
          </a:p>
          <a:p>
            <a:pPr lvl="0"/>
            <a:r>
              <a:rPr/>
              <a:t>어두운 곳에서 초점 맞추기가 어려우므로 광각 렌즈와 조리개 f/8 이상을 사용하여 존 포커싱을 수행함</a:t>
            </a:r>
          </a:p>
          <a:p>
            <a:pPr lvl="0"/>
            <a:r>
              <a:rPr/>
              <a:t>인물의 얼굴이 화면을 가득 채우도록 프레임을 구성하여 플래시 광량이 피사체에 집중되도록 촬영함</a:t>
            </a:r>
          </a:p>
          <a:p>
            <a:pPr lvl="0"/>
            <a:r>
              <a:rPr/>
              <a:t>포즈를 취한 사진보다 웃고 대화하는 즉흥적인 순간을 포착할 때 파티의 생동감이 더 잘 전달됨</a:t>
            </a:r>
          </a:p>
          <a:p>
            <a:pPr lvl="0" indent="0" marL="0">
              <a:buNone/>
            </a:pPr>
            <a:r>
              <a:rPr b="1"/>
              <a:t>[실무 사례 7] 존 포커스(Zone Focus) 기법</a:t>
            </a:r>
            <a:r>
              <a:rPr/>
              <a:t> 초점을 약 1.5m 거리에 고정하고 조리개를 조여서 일일이 초점을 맞추지 않고도 빠르게 스냅샷을 촬영함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파티의 추억을 기록하는 촬영 기술을 설명합니다. 전문적인 카메라 설정값(셔터 속도, 조리개)이 실제 사진 결과물에 어떤 영향을 주는지 사례와 함께 안내하십시오.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가상 파티 아이디어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멀리 있는 팀을 위한 온라인 이벤트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Zoom이나 Teams 플랫폼을 활용하여 물리적 거리에 상관없이 모든 직원이 참여하는 가상 파티 개최</a:t>
            </a:r>
          </a:p>
          <a:p>
            <a:pPr lvl="1"/>
            <a:r>
              <a:rPr/>
              <a:t>소규모 브레이크아웃 룸을 사용해 소그룹 네트워킹을 유도하면 익명성을 깨고 친밀감을 높일 수 있습니다.</a:t>
            </a:r>
          </a:p>
          <a:p>
            <a:pPr lvl="1"/>
            <a:r>
              <a:rPr/>
              <a:t>시간대가 다른 참가자를 위해 핵심 프로그램은 녹화 및 재시청 링크로 제공하는 것이 좋습니다.</a:t>
            </a:r>
          </a:p>
          <a:p>
            <a:pPr lvl="1"/>
            <a:r>
              <a:rPr/>
              <a:t>사전에 간단한 아젠다와 기술 가이드(오디오/카메라 체크)를 공유하면 진행 효율이 올라갑니다.</a:t>
            </a:r>
          </a:p>
          <a:p>
            <a:pPr lvl="0"/>
            <a:r>
              <a:rPr/>
              <a:t>디지털 화이트보드에 그림을 그리고 제목을 맞추는 ‘크리스마스 사전’ 게임으로 팀워크와 창의력 발휘</a:t>
            </a:r>
          </a:p>
          <a:p>
            <a:pPr lvl="1"/>
            <a:r>
              <a:rPr/>
              <a:t>팀을 섞어 진행하면 부서 간 교류와 아이스브레이킹 효과를 동시에 얻을 수 있습니다.</a:t>
            </a:r>
          </a:p>
          <a:p>
            <a:pPr lvl="1"/>
            <a:r>
              <a:rPr/>
              <a:t>그림 제한시간을 두어 텐션을 유지하고, 우수작을 시상해 작은 보상을 제공하세요.</a:t>
            </a:r>
          </a:p>
          <a:p>
            <a:pPr lvl="1"/>
            <a:r>
              <a:rPr/>
              <a:t>모바일 친화적인 화이트보드 서비스를 선택하면 접근성이 좋아 참여율이 높아집니다.</a:t>
            </a:r>
          </a:p>
          <a:p>
            <a:pPr lvl="0"/>
            <a:r>
              <a:rPr/>
              <a:t>온라인 템플릿을 사용하여 선물 이미지 뒤에 번호를 매기고 뺏고 뺏기는 가상 화이트 엘리펀트 진행</a:t>
            </a:r>
          </a:p>
          <a:p>
            <a:pPr lvl="1"/>
            <a:r>
              <a:rPr/>
              <a:t>사전에 각자 선물 아이디어를 제출받아 이미지를 매핑하면 준비 시간을 줄일 수 있습니다.</a:t>
            </a:r>
          </a:p>
          <a:p>
            <a:pPr lvl="1"/>
            <a:r>
              <a:rPr/>
              <a:t>랜덤화 규칙과 차등 교환 룰을 명확히 공지해 공정성을 확보하세요.</a:t>
            </a:r>
          </a:p>
          <a:p>
            <a:pPr lvl="1"/>
            <a:r>
              <a:rPr/>
              <a:t>작은 예산의 기프트카드나 디지털 기프티콘을 사용하면 물류 부담을 없앨 수 있습니다.</a:t>
            </a:r>
          </a:p>
          <a:p>
            <a:pPr lvl="0"/>
            <a:r>
              <a:rPr/>
              <a:t>크리스마스 캐럴 제목을 이모티콘 퀴즈로 출제하여 채팅창으로 정답을 맞히는 간단하고 즐거운 활동</a:t>
            </a:r>
          </a:p>
          <a:p>
            <a:pPr lvl="1"/>
            <a:r>
              <a:rPr/>
              <a:t>이모티콘 난이도를 다양화하면 초보자와 고수 모두 즐길 수 있습니다.</a:t>
            </a:r>
          </a:p>
          <a:p>
            <a:pPr lvl="1"/>
            <a:r>
              <a:rPr/>
              <a:t>실시간 점수판을 공유하면 경쟁심을 자극해 참여도를 높일 수 있습니다.</a:t>
            </a:r>
          </a:p>
          <a:p>
            <a:pPr lvl="1"/>
            <a:r>
              <a:rPr/>
              <a:t>채팅 외에 반응 이모지나 리액션을 활용해 빠른 응답을 유도하세요.</a:t>
            </a:r>
          </a:p>
          <a:p>
            <a:pPr lvl="0"/>
            <a:r>
              <a:rPr/>
              <a:t>동일한 제작 키트를 팀원들에게 발송하여 화면 너머로 함께 만들고 공유하는 DIY 장식 세션 운영</a:t>
            </a:r>
          </a:p>
          <a:p>
            <a:pPr lvl="1"/>
            <a:r>
              <a:rPr/>
              <a:t>키트 구성은 난이도와 소요시간을 명확히 안내해 참여 문턱을 낮추세요.</a:t>
            </a:r>
          </a:p>
          <a:p>
            <a:pPr lvl="1"/>
            <a:r>
              <a:rPr/>
              <a:t>제작 중간중간 작품을 공유하도록 유도하면 자연스러운 대화가 촉진됩니다.</a:t>
            </a:r>
          </a:p>
          <a:p>
            <a:pPr lvl="1"/>
            <a:r>
              <a:rPr/>
              <a:t>완성작을 모아 온라인 갤러리로 전시하면 소속감과 성취감을 제공합니다.</a:t>
            </a:r>
          </a:p>
          <a:p>
            <a:pPr lvl="0" indent="0" marL="0">
              <a:buNone/>
            </a:pPr>
            <a:r>
              <a:rPr b="1"/>
              <a:t>[표 9] 가상 파티용 온라인 게임 도구</a:t>
            </a:r>
            <a:r>
              <a:rPr/>
              <a:t> | 활동명 | 필요 도구 | 특징 | | :— | :— | :— | | </a:t>
            </a:r>
            <a:r>
              <a:rPr b="1"/>
              <a:t>화이트 엘리펀트</a:t>
            </a:r>
            <a:r>
              <a:rPr/>
              <a:t> | ClickUp 템플릿 | 선물 이미지 활용 뺏기 게임 | | </a:t>
            </a:r>
            <a:r>
              <a:rPr b="1"/>
              <a:t>크리스마스 사전</a:t>
            </a:r>
            <a:r>
              <a:rPr/>
              <a:t> | 온라인 화이트보드 | 그림으로 단어 맞추기 | | </a:t>
            </a:r>
            <a:r>
              <a:rPr b="1"/>
              <a:t>이모티콘 퀴즈</a:t>
            </a:r>
            <a:r>
              <a:rPr/>
              <a:t> | 슬라이드 쇼 / 채팅 | 캐럴 제목 맞추기 |</a:t>
            </a:r>
          </a:p>
          <a:p>
            <a:pPr lvl="0"/>
            <a:r>
              <a:rPr b="1"/>
              <a:t>화이트 엘리펀트 설명:</a:t>
            </a:r>
            <a:r>
              <a:rPr/>
              <a:t> ClickUp 템플릿을 활용해 선물 이미지를 배치하고 번호로 매칭하는 방식입니다. 참여자끼리 랜덤 교환 규칙을 적용하고, 소액 기프티콘을 보상으로 활용하면 실행이 쉽습니다.</a:t>
            </a:r>
          </a:p>
          <a:p>
            <a:pPr lvl="0"/>
            <a:r>
              <a:rPr b="1"/>
              <a:t>크리스마스 사전 설명:</a:t>
            </a:r>
            <a:r>
              <a:rPr/>
              <a:t> 온라인 화이트보드에 팀이 순서대로 그림을 그리고 다른 팀은 제목을 추측합니다. 시간 제한과 채점 기준을 두어 공정성을 유지하고, 우수팀을 시상하면 몰입도가 증가합니다.</a:t>
            </a:r>
          </a:p>
          <a:p>
            <a:pPr lvl="0"/>
            <a:r>
              <a:rPr b="1"/>
              <a:t>이모티콘 퀴즈 설명:</a:t>
            </a:r>
            <a:r>
              <a:rPr/>
              <a:t> 슬라이드 쇼에 이모티콘으로 구성된 문제를 올리고 채팅으로 정답을 받습니다. 난이도별로 점수를 부여하고 순위별 소정의 상품을 제공하면 경쟁과 재미를 동시에 유도할 수 있습니다.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원격 근무 환경에서 유대감을 높일 수 있는 가상 파티 운영법입니다. 물리적 제약을 극복하기 위해 ‘동일한 키트 발송’이나 ’화이트보드 공유’ 등의 기술적 보조 도구를 활용하십시오.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indent="0" marL="0">
              <a:buNone/>
            </a:pPr>
            <a:r>
              <a:rPr/>
              <a:t>파티 마무리와 리셋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다음날을 위한 클린 루틴 가이드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파티 직후 음식물 쓰레기와 재활용품을 즉시 분리 배출하여 집안에 냄새가 배는 것을 방지함</a:t>
            </a:r>
          </a:p>
          <a:p>
            <a:pPr lvl="0"/>
            <a:r>
              <a:rPr/>
              <a:t>남은 음식은 밀폐 용기에 담아 냉장 보관하거나 다음 날 새로운 요리로 재활용하는 전략 수립</a:t>
            </a:r>
          </a:p>
          <a:p>
            <a:pPr lvl="0"/>
            <a:r>
              <a:rPr/>
              <a:t>사용한 식기와 조리 기구는 식기세척기를 가동하거나 즉시 설거지하여 주방 공간을 원상 복구함</a:t>
            </a:r>
          </a:p>
          <a:p>
            <a:pPr lvl="0"/>
            <a:r>
              <a:rPr/>
              <a:t>화재 예방을 위해 트리 조명, 캔들, 히터 등 모든 전열 기구의 전원을 끄고 안전 점검을 수행함</a:t>
            </a:r>
          </a:p>
          <a:p>
            <a:pPr lvl="0"/>
            <a:r>
              <a:rPr/>
              <a:t>파티에 참석한 지인들에게 촬영한 사진과 감사 메시지를 전하며 정서적인 만족감으로 파티를 완결함</a:t>
            </a:r>
          </a:p>
          <a:p>
            <a:pPr lvl="0" indent="0" marL="0">
              <a:buNone/>
            </a:pPr>
            <a:r>
              <a:rPr b="1"/>
              <a:t>[인포그래픽 5] 파티 종료 후 리셋 프로세스</a:t>
            </a:r>
          </a:p>
          <a:p>
            <a:pPr lvl="0" indent="0">
              <a:buNone/>
            </a:pPr>
            <a:r>
              <a:rPr>
                <a:latin typeface="Courier"/>
              </a:rPr>
              <a:t>[쓰레기 배출] -&gt; [주방 설거지/정리] -&gt; [안전 기구 점검] -&gt; [감사 인사 전하기]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즐거운 파티의 완성은 ’뒷정리’에 있음을 강조합니다. 호스트가 혼자 고생하지 않도록 손님과 함께 치우는 분위기를 조성하거나 효율적인 청소 루틴을 계획하십시오.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2025-12-24T07:19:50Z</dcterms:created>
  <dcterms:modified xsi:type="dcterms:W3CDTF">2025-12-24T07:19:50Z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